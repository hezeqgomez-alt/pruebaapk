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3127248"/>
            <a:ext cx="457200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640080" cy="640080"/>
          </a:xfrm>
          <a:prstGeom prst="rect">
            <a:avLst/>
          </a:prstGeom>
          <a:solidFill>
            <a:srgbClr val="4F46E5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89888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EasyResumen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52928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5B4FC"/>
                </a:solidFill>
                <a:latin typeface="Calibri"/>
              </a:rPr>
              <a:t>El analizador de resúmenes de tarjeta
para Argentina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832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Presentación para Inversores  ·  Mayo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61264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1188720"/>
            <a:ext cx="50292" cy="1508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129844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F46E5"/>
                </a:solidFill>
                <a:latin typeface="Calibri"/>
              </a:rPr>
              <a:t>28,8M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87452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argentinos con
billeteras digitales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2880360"/>
            <a:ext cx="61264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0" y="2880360"/>
            <a:ext cx="50292" cy="1508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99008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59669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35661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apps locales con parser
de PDFs bancarios 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4572000"/>
            <a:ext cx="61264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4572000"/>
            <a:ext cx="50292" cy="1508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468172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7C3AED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52578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procesamiento local
sin datos en la nube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v1.2.0  · 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Los argentinos gestionan sus finanzas a ciegas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669280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0292" cy="2514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325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¿Cuánto debo exactamente?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Recibís el resumen en PDF y no hay forma rápida de entender el total real, quién gastó qué y en qué categorías.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5669280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50292" cy="2514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0759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25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Multi-tarjeta = caos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CABAL + VISA + Galicia: consolidar tres resúmenes manualmente lleva horas y es propenso a errores.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840480"/>
            <a:ext cx="5669280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840480"/>
            <a:ext cx="50292" cy="2514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0507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233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Sin visibilidad de cuotas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2628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sabés cuántas cuotas te quedan ni cuándo libera espacio en el presupuesto el plan que compraste hace meses.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840480"/>
            <a:ext cx="5669280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840480"/>
            <a:ext cx="50292" cy="2514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00507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0233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Las apps internacionales no entienden Argentina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2628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Wallet, Spendee y YNAB no parsean PDFs de bancos argentinos. Requieren carga manual de cada movimiento.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EasyResumen — 100% local, sin cuenta, sin nube, sin IA externa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29844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325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Parser automático de PDFs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81965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14 bancos y tarjetas argentinas
(CABAL, VISA, Galicia, Naranja X,
Ciudad, AMEX y más)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14300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14300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29844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1325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Categorización automática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965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20+ categorías detectadas
(supermercados, cuotas, servicios,
MercadoPago, etc.)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0456" y="114300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0456" y="114300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129844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1976" y="1325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Panel de balance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181965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Gastos de tarjeta + ingresos manuales
= balance real del mes con un vistazo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84048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84048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399592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23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Alertas inteligentes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" y="451713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Cuotas terminadas (capital liberado),
suscripciones recurrentes,
gastos concentrados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384048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384048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399592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01768" y="4023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Exportación completa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51713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Excel (.xlsx), CSV,
Informe PDF listo
para el contador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0456" y="3840480"/>
            <a:ext cx="3749039" cy="251460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0456" y="3840480"/>
            <a:ext cx="50292" cy="2514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399592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1976" y="4023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Privacidad 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4517136"/>
            <a:ext cx="345643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Ningún archivo sale del dispositivo.
Sin cuenta, sin cloud,
sin IA externa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Tamaño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Argentina: mercado sub-atendido con 28,8M usuarios de billeteras digitales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120640" cy="5029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097280"/>
            <a:ext cx="612648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097280"/>
            <a:ext cx="50292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521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46E5"/>
                </a:solidFill>
                <a:latin typeface="Calibri"/>
              </a:rPr>
              <a:t>383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188720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fintechs activas en Argentina
(Finnovista Fintech Radar 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185415"/>
            <a:ext cx="612648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0" y="2185415"/>
            <a:ext cx="50292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240279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+11,7%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76855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crecimiento anual del ecosistema
fintech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3273552"/>
            <a:ext cx="612648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3273552"/>
            <a:ext cx="50292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32841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7C3AED"/>
                </a:solidFill>
                <a:latin typeface="Calibri"/>
              </a:rPr>
              <a:t>64%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364992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 argentinos usa billeteras
digitales a diario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361688"/>
            <a:ext cx="612648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4361688"/>
            <a:ext cx="50292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441655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453128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apps locales especializadas en
parseo de PDFs bancarios 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5449824"/>
            <a:ext cx="612648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0" y="5449824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550468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284C7"/>
                </a:solidFill>
                <a:latin typeface="Calibri"/>
              </a:rPr>
              <a:t>93%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541264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penetración de internet
en Argentina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Panorama Competitivo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EasyResumen ocupa un nicho sin competencia directa local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6675120" cy="5303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8040" y="11704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170432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PDFs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11704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Precio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1170432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Offline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508760"/>
            <a:ext cx="4663440" cy="22860"/>
          </a:xfrm>
          <a:prstGeom prst="rect">
            <a:avLst/>
          </a:prstGeom>
          <a:solidFill>
            <a:srgbClr val="2D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572768"/>
            <a:ext cx="4663440" cy="731520"/>
          </a:xfrm>
          <a:prstGeom prst="rect">
            <a:avLst/>
          </a:prstGeom>
          <a:solidFill>
            <a:srgbClr val="1E3A5F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1682496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EasyResumen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682496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682496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USD 15 único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1682496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368296"/>
            <a:ext cx="4663440" cy="73152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2478024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Wallet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478024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78024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USD 35 lifetime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2478024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163824"/>
            <a:ext cx="4663440" cy="73152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273552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Spendee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273552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273552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Freemium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3273552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959352"/>
            <a:ext cx="4663440" cy="73152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069080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YNAB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069080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069080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USD 109/año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4069080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0608" y="4754880"/>
            <a:ext cx="4663440" cy="73152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864608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Apps bancarias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864608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〰️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864608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Gratis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4864608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0608" y="5550407"/>
            <a:ext cx="4663440" cy="73152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5660135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HomeBank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5660135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5660135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Gratis (OSS)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5660135"/>
            <a:ext cx="594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Segmentación de Usuarios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1.000 usuarios simulados · 5 perfiles · distinta disposición a pagar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51560"/>
            <a:ext cx="5029200" cy="5212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394960" y="1115568"/>
            <a:ext cx="64922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1115568"/>
            <a:ext cx="50292" cy="9875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17043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F46E5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68249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350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17957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Millennial
Organizado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09344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25–38 · Empleado/Freelancer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137160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💰 Media · USD 10–15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2221991"/>
            <a:ext cx="64922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94960" y="2221991"/>
            <a:ext cx="50292" cy="9875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2276855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7889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200 usuarios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28599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Autónomo / PYME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15767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30–50 · Monotributista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2478023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💰 Alta · USD 15–25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3328415"/>
            <a:ext cx="64922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94960" y="3328415"/>
            <a:ext cx="50292" cy="9875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383279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3AED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895343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280 usuarios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92423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Familia Ahorrista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822191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35–55 · Pareja con tarjetas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584447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💰 Media-baja · USD 5–10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4434840"/>
            <a:ext cx="64922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94960" y="4434840"/>
            <a:ext cx="50292" cy="9875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0" y="448970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0017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120 usuarios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4988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Inversor Activo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92861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28–45 · Multi-tarjeta / moneda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4690872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💰 Alta · USD 20+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5541264"/>
            <a:ext cx="64922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94960" y="5541264"/>
            <a:ext cx="50292" cy="9875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0" y="55961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4748B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610819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50 usuarios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56052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Estudiante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60350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18–25 · Primer tarjeta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5797296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💰 Muy baja · Free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Modelo de Monetización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Freemium + Pago Único — el modelo validado para el mercado argentino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3767328" cy="56235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3767328" cy="502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🆓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Calibri"/>
              </a:rPr>
              <a:t>Siempre gratis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42032"/>
            <a:ext cx="3337560" cy="22860"/>
          </a:xfrm>
          <a:prstGeom prst="rect">
            <a:avLst/>
          </a:prstGeom>
          <a:solidFill>
            <a:srgbClr val="2D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51760"/>
            <a:ext cx="33832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✓  Parseo ilimitado de PDFs
✓  Lista de movimientos + búsqueda
✓  Categorización automática
✓  Exportación CSV
✓  Sin cuenta ni registro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115568"/>
            <a:ext cx="3767328" cy="5623560"/>
          </a:xfrm>
          <a:prstGeom prst="rect">
            <a:avLst/>
          </a:prstGeom>
          <a:solidFill>
            <a:srgbClr val="1E3A5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115568"/>
            <a:ext cx="3767328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1170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59669"/>
                </a:solidFill>
                <a:latin typeface="Calibri"/>
              </a:rPr>
              <a:t>★  RECOMENDADO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148132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1965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ARS 18.000  ·  pago único
~USD 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3128" y="2542032"/>
            <a:ext cx="3337560" cy="228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2651760"/>
            <a:ext cx="33832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Todo lo de Free +
✓  Panel de Balance mensual
✓  Alertas avanzadas (cuotas, suscripciones)
✓  Panel de Cuotas y proyecciones
✓  Exportación Excel + Informe PDF
✓  Soporte email ≤ 48hs · Updates 2 años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0456" y="1115568"/>
            <a:ext cx="3767328" cy="56235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6" y="1115568"/>
            <a:ext cx="3767328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03336" y="148132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🔄 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1965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ARS 28.000 / año
~USD 23/año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03336" y="2542032"/>
            <a:ext cx="3337560" cy="22860"/>
          </a:xfrm>
          <a:prstGeom prst="rect">
            <a:avLst/>
          </a:prstGeom>
          <a:solidFill>
            <a:srgbClr val="2D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2651760"/>
            <a:ext cx="33832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✓  Todo lo de Pro +
✓  Actualizaciones sin límite
✓  Acceso a nuevas features beta
✓  Soporte prioritario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E68A"/>
                </a:solidFill>
                <a:latin typeface="Calibri"/>
              </a:rPr>
              <a:t>💡  El Tier Free es deliberadamente útil y completo — el usuario paga por más, no por lo básico.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Proyecciones Year 1  —  1.000 Usuarios Simulados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3 escenarios según activación de canales · Modelo: Pago único + Suscripción 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Proyecciones Plurianuales  —  3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Crecimiento: 1.000 → 4.000 → 12.000 usuarios · ingresos USD acumulados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8229600" cy="5303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32520" y="1170432"/>
            <a:ext cx="3154680" cy="17373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32520" y="1170432"/>
            <a:ext cx="50292" cy="17373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12618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Calibri"/>
              </a:rPr>
              <a:t>Year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627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1.000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975104"/>
            <a:ext cx="2788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• Lanzamiento + finfluencers
• Primeras conversiones Pro
• Validación del modelo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3072384"/>
            <a:ext cx="3154680" cy="17373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3072384"/>
            <a:ext cx="50292" cy="17373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1638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Year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5295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4.000 usuarios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877056"/>
            <a:ext cx="2788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• SEO consolidado + referidos
• Lanzamiento Mac
• Partnerships contadores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32520" y="4974336"/>
            <a:ext cx="3154680" cy="1737360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32520" y="4974336"/>
            <a:ext cx="50292" cy="1737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506577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Year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543153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12.000 usuarios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5779008"/>
            <a:ext cx="2788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• Full-time income (esc. moderado)
• Nuevas features premium
• Posible expansión Latam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de Lanzamiento  —  4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 la lista de espera al crecimiento orgánico sostenible en 12 meses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2834640" cy="537667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2834640" cy="502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1207008"/>
            <a:ext cx="777240" cy="7772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084831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Pre-lanzamiento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2514600" cy="3200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651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Semanas 1–4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0906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Landing page + waitlist 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67588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Videos TikTok/Reels del 'dolor'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2611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Contactar 5 finfluencers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84632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Definir pricing + plataforma pago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1097280"/>
            <a:ext cx="2834640" cy="537667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46120" y="1097280"/>
            <a:ext cx="283464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207008"/>
            <a:ext cx="77724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2084831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Beta Cerrada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651760"/>
            <a:ext cx="251460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651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Semanas 5–8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0712" y="30906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200 beta users (segmentos B y 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367588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Feedback activo + NPS ≥ 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0712" y="42611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10 testimonios reales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2" y="484632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Video demo con usuario real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097280"/>
            <a:ext cx="2834640" cy="537667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097280"/>
            <a:ext cx="283464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207008"/>
            <a:ext cx="777240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084831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Lanzamiento
Público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651760"/>
            <a:ext cx="2514600" cy="320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2651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Semanas 9–12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0906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Product Hunt + Reddit + redes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67588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Finfluencers simultáneos (CPA)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42611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30% off primeras 72 horas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484632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Meta Ads test ARS 50K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20" y="1097280"/>
            <a:ext cx="2834640" cy="537667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9720" y="1097280"/>
            <a:ext cx="283464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95560" y="1207008"/>
            <a:ext cx="77724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2084831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Crecimiento
Orgánico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651760"/>
            <a:ext cx="2514600" cy="320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2651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Meses 4–12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4312" y="30906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Programa de referidos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54312" y="367588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Newsletter mensual + SEO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54312" y="42611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1 banco nuevo/mes (Long-tail SEO)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54312" y="484632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→  Lanzamiento versión Mac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18104" y="3767328"/>
            <a:ext cx="128016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89904" y="3767328"/>
            <a:ext cx="128016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61704" y="3767328"/>
            <a:ext cx="128016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Canales de Adquisición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Finfluencers + SEO = combinación de menor CAC y mayor escala en Argentina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132320" cy="5349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117043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CAC estimado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627632"/>
            <a:ext cx="4251960" cy="59436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627632"/>
            <a:ext cx="36576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Finfluencers CPA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700784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800–2.500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276856"/>
            <a:ext cx="4251960" cy="59436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276856"/>
            <a:ext cx="36576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23500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SEO orgánico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350008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0 (tiempo)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2926080"/>
            <a:ext cx="4251960" cy="59436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2926080"/>
            <a:ext cx="36576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9992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Referidos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999232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575304"/>
            <a:ext cx="4251960" cy="59436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3575304"/>
            <a:ext cx="36576" cy="5943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36484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YouTube tutorial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648456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0 (tiempo)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224528"/>
            <a:ext cx="4251960" cy="59436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224528"/>
            <a:ext cx="36576" cy="5943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Meta Ads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297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2k–6k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4873752"/>
            <a:ext cx="4251960" cy="59436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4873752"/>
            <a:ext cx="36576" cy="5943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494690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Product Hunt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946904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5522976"/>
            <a:ext cx="4251960" cy="594360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35240" y="5522976"/>
            <a:ext cx="36576" cy="5943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5596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Google 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5596128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3k–8k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5240" y="6172200"/>
            <a:ext cx="4251960" cy="594360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5240" y="6172200"/>
            <a:ext cx="36576" cy="5943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0" y="62453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TikTok Ads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245352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ARS 1,5k–4k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64592"/>
            <a:ext cx="11859768" cy="82296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Riesgos y Mitigaciones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Identificados, priorizados y con plan de contingencia claro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987552"/>
            <a:ext cx="11859768" cy="228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309360" y="1115568"/>
            <a:ext cx="55778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957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1179576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Cambio formato PDFs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Suite de tests + hotfix ≤ 72hs
Reporte in-app con PDF anonimizado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12848"/>
            <a:ext cx="55778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🟡 O4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2048" y="2276856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Resistencia al software pago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9748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Tier Free genuinamente útil
Privacidad offline como diferenciador clave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310128"/>
            <a:ext cx="55778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7413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🟡 O2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3374136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Windows Defender bloquea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9476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Code signing cert (USD 200–500/año)
Prioridad #1 antes del lanzamiento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407407"/>
            <a:ext cx="55778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471415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⚪ O5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4471415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Competidor grande entra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92039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Los bancos NUNCA ofrecerán privacidad offline
Comunidad y base instalada como moat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504688"/>
            <a:ext cx="5577840" cy="9875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56869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🟡 O6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8" y="5568696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Volatilidad macroeconómica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989320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Precio ARS indexado + opción USD
Producto más valioso en crisis (control de gastos)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0"/>
            <a:ext cx="32004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164592"/>
            <a:ext cx="11859768" cy="868680"/>
          </a:xfrm>
          <a:prstGeom prst="rect">
            <a:avLst/>
          </a:prstGeom>
          <a:solidFill>
            <a:srgbClr val="16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19456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¿Por qué EasyResumen?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430000" cy="228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475720" cy="1024128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0700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Nicho sin competencia directa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6276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28,8M usuarios de billeteras digitales sin herramienta especializada de análisis. Ventana de oportunidad abierta.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212848"/>
            <a:ext cx="11475720" cy="1024128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042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Timing perfecto: inflación bajando, planificación financiera subiendo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7249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La reducción de 289% → ~30% genera una nueva demanda de control financiero real a mediano plazo.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310128"/>
            <a:ext cx="11475720" cy="1024128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381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015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El diferenciador que los bancos no pueden copiar: privacidad total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822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100% local — ningún banco ni fintech ofrecerá esto porque les conviene tener acceso a tus datos financieros.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407407"/>
            <a:ext cx="11475720" cy="1024128"/>
          </a:xfrm>
          <a:prstGeom prst="rect">
            <a:avLst/>
          </a:prstGeom>
          <a:solidFill>
            <a:srgbClr val="16212E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35423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498847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Modelo de bajo costo operativo · margen bruto ~95%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1947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Sin servidores, sin soporte 24/7, sin infraestructura cloud. Pago único elimina la gestión de churn.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504688"/>
            <a:ext cx="11475720" cy="1024128"/>
          </a:xfrm>
          <a:prstGeom prst="rect">
            <a:avLst/>
          </a:prstGeom>
          <a:solidFill>
            <a:srgbClr val="1E293B"/>
          </a:solidFill>
          <a:ln w="3810">
            <a:solidFill>
              <a:srgbClr val="2D3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63270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55961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Escalable con recursos mínimos desde el día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6016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CAC bajo via finfluencers CPA + SEO orgánico. LTV garantizado en pago único. Viral por boca a boca.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" y="6537960"/>
            <a:ext cx="11859768" cy="228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EasyResumen  ·  v1.2.0  ·  100% local  ·  sin IA externa  ·  Mayo 2026  ·  Confidencial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