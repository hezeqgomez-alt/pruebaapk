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194560"/>
            <a:ext cx="548640" cy="548640"/>
          </a:xfrm>
          <a:prstGeom prst="rect">
            <a:avLst/>
          </a:prstGeom>
          <a:solidFill>
            <a:srgbClr val="4F46E5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116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EasyResumen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5B4FC"/>
                </a:solidFill>
                <a:latin typeface="Calibri"/>
              </a:rPr>
              <a:t>El analizador de resúmenes de tarjeta para Argentina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3246120"/>
            <a:ext cx="3657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383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Presentación para Inversores · Mayo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4114800"/>
            <a:ext cx="292608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42062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F46E5"/>
                </a:solidFill>
                <a:latin typeface="Calibri"/>
              </a:rPr>
              <a:t>28,8M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66344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usuarios de billeteras
digitales en Argentina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4114800"/>
            <a:ext cx="292608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42062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F46E5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66344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apps locales con
parseo de PDFs bancarios 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4114800"/>
            <a:ext cx="292608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42062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F46E5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466344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procesamiento local
sin datos en la nube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09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v1.2.0 ·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B4FC"/>
                </a:solidFill>
                <a:latin typeface="Calibri"/>
              </a:rPr>
              <a:t>Los argentinos gestionan sus finanzas a ciegas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1152144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B4FC"/>
                </a:solidFill>
                <a:latin typeface="Calibri"/>
              </a:rPr>
              <a:t>Los argentinos gestionan sus finanzas a ciegas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24128"/>
            <a:ext cx="1152144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234440"/>
            <a:ext cx="55778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371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¿Cuánto debo exactamente?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8288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Recibís el resumen en PDF y no hay forma rápida de entender el total, quién gastó qué y en qué categorías.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234440"/>
            <a:ext cx="55778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371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Multi-tarjeta = caos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8288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Si tenés CABAL + VISA + Galicia, consolidar los tres resúmenes manualmente lleva horas y es propenso a errores.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03320"/>
            <a:ext cx="55778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404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Sin visibilidad de cuotas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9768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No sabés cuántas cuotas te quedan ni cuándo va a "liberar" espacio en el presupuesto el plan que compraste hace meses.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703320"/>
            <a:ext cx="55778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8404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Apps internacionales no entienden Argentina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9768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Wallet, Spendee y YNAB no parsean PDFs de bancos argentinos. Requieren entrada manual de cada movimiento.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  <a:latin typeface="Calibri"/>
              </a:rPr>
              <a:t>EasyResumen — 100% local, sin datos en la nube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1152144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749039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990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4173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Parser automático de PDFs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14 bancos y tarjetas argentinas
(CABAL, VISA, Galicia, Naranja X, Ciudad, AMEX y más)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234440"/>
            <a:ext cx="3749039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39" y="13990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🏷️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79" y="14173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Categorización automática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39" y="1920240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20+ categorías detectadas con IA de reglas
(supermercados, cuotas, servicios, MercadoPago, etc.)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3749039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3990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399" y="14173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Panel de 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1920240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Total de gastos por tarjeta + ingresos manuales
= balance real del 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40480"/>
            <a:ext cx="3749039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050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0233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Alertas inteligentes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26280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Cuotas terminadas (capital liberado), suscripciones
recurrentes, gastos concentrados por categoría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3840480"/>
            <a:ext cx="3749039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39" y="40050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79" y="40233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Exportación completa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39" y="4526280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Excel, CSV, Informe PDF
listo para el contador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3840480"/>
            <a:ext cx="3749039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59" y="40050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399" y="40233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Privacidad total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4526280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Ningún archivo sale del dispositivo.
Sin cuenta, sin cloud, sin IA externa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Tamaño de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B4FC"/>
                </a:solidFill>
                <a:latin typeface="Calibri"/>
              </a:rPr>
              <a:t>Argentina: 28,8M usuarios de billeteras digitales · 0 herramientas locales especializadas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1152144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12064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0" y="1234440"/>
            <a:ext cx="612648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280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46E5"/>
                </a:solidFill>
                <a:latin typeface="Calibri"/>
              </a:rPr>
              <a:t>383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3258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fintechs activas en Argentina
(Finnovista 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2286000"/>
            <a:ext cx="612648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3317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46E5"/>
                </a:solidFill>
                <a:latin typeface="Calibri"/>
              </a:rPr>
              <a:t>+11,7%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37744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crecimiento anual del ecosistema fintech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3337560"/>
            <a:ext cx="612648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33832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46E5"/>
                </a:solidFill>
                <a:latin typeface="Calibri"/>
              </a:rPr>
              <a:t>64%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42900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de argentinos usa billeteras a diario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4389120"/>
            <a:ext cx="612648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44348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46E5"/>
                </a:solidFill>
                <a:latin typeface="Calibri"/>
              </a:rPr>
              <a:t>88%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48056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penetración de smartphones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5440679"/>
            <a:ext cx="612648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5486399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5532119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apps locales con parser de PDFs bancarios 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Panorama Competitivo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DE68A"/>
                </a:solidFill>
                <a:latin typeface="Calibri"/>
              </a:rPr>
              <a:t>EasyResumen ocupa un nicho sin competencia directa local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11521440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658368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1887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PDFs 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1887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Precio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188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Local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1481328"/>
            <a:ext cx="4754880" cy="22860"/>
          </a:xfrm>
          <a:prstGeom prst="rect">
            <a:avLst/>
          </a:prstGeom>
          <a:solidFill>
            <a:srgbClr val="78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600" y="1554480"/>
            <a:ext cx="475488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627632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EasyResumen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62763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627632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USD 15 (único)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162763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2359152"/>
            <a:ext cx="4754880" cy="731520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432304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Wallet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432304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432304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USD 35 lifetime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2432304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3163824"/>
            <a:ext cx="47548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3236976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Spendee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236976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236976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Freemium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3236976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3968496"/>
            <a:ext cx="4754880" cy="731520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4041648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YNAB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04164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041648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USD 109/año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404164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4773168"/>
            <a:ext cx="47548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484632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Apps banco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8463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Parcial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84632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Gratis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48463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Segmentación de Usuarios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  <a:latin typeface="Calibri"/>
              </a:rPr>
              <a:t>1.000 usuarios simulados en 5 perfiles con distinta disposición a pagar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11521440" cy="228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02920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349240" y="1143000"/>
            <a:ext cx="6492240" cy="960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1143000"/>
            <a:ext cx="54864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12161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645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350 usuarios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19786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Millennial
Organizado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61848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25–38 años · Empleado/Freelancer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37160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DE68A"/>
                </a:solidFill>
                <a:latin typeface="Calibri"/>
              </a:rPr>
              <a:t>💰 Media · USD 10–15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2240280"/>
            <a:ext cx="6492240" cy="960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49240" y="2240280"/>
            <a:ext cx="54864" cy="960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231343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Calibr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200 usuarios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29514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Autónomo
/ PYME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7157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30–50 años · Monotributista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46888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DE68A"/>
                </a:solidFill>
                <a:latin typeface="Calibri"/>
              </a:rPr>
              <a:t>💰 Alta · USD 15–25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3337560"/>
            <a:ext cx="6492240" cy="960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9240" y="3337560"/>
            <a:ext cx="54864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341071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840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280 usuarios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39242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Familia
Ahorrista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8130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35–55 años · Pareja con tarjetas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56616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DE68A"/>
                </a:solidFill>
                <a:latin typeface="Calibri"/>
              </a:rPr>
              <a:t>💰 Media-baja · USD 5–10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9240" y="4434840"/>
            <a:ext cx="6492240" cy="960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49240" y="4434840"/>
            <a:ext cx="54864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450799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4937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120 usuarios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48970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Inversor
Activo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91032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28–45 años · Multi-tarjeta/moneda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46634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DE68A"/>
                </a:solidFill>
                <a:latin typeface="Calibri"/>
              </a:rPr>
              <a:t>💰 Alta · USD 20+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49240" y="5532120"/>
            <a:ext cx="6492240" cy="960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49240" y="5532120"/>
            <a:ext cx="54864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32120" y="560527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4748B"/>
                </a:solidFill>
                <a:latin typeface="Calibri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6035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50 usuarios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558698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Estudiante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600760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18–25 años · Primer tarjeta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576072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DE68A"/>
                </a:solidFill>
                <a:latin typeface="Calibri"/>
              </a:rPr>
              <a:t>💰 Muy baja · Free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Modelo de Monetización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  <a:latin typeface="Calibri"/>
              </a:rPr>
              <a:t>Freemium + Pago Único — el modelo que funciona en el mercado argentino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1152144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749039" cy="5394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4748B"/>
                </a:solidFill>
                <a:latin typeface="Calibri"/>
              </a:rPr>
              <a:t>🆓 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Siempre gratis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87168"/>
            <a:ext cx="32004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✅ Parseo ilimitado de PDFs
✅ Lista y búsqueda de movimientos
✅ Categorización automática
✅ Exportación CSV
✅ Sin cuenta ni registro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88720"/>
            <a:ext cx="3749039" cy="5394960"/>
          </a:xfrm>
          <a:prstGeom prst="rect">
            <a:avLst/>
          </a:prstGeom>
          <a:solidFill>
            <a:srgbClr val="1E3A5F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2344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  <a:latin typeface="Calibri"/>
              </a:rPr>
              <a:t>⭐ RECOMENDADO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39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⭐ 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19202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ARS 18.000
(pago único · ~USD 15)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39" y="2487168"/>
            <a:ext cx="3200400" cy="182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39" y="260604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✅ Todo lo de Free +
✅ Panel de Balance
✅ Alertas avanzadas
✅ Cuotas y proyecciones
✅ Excel + Informe PDF
✅ Soporte por email ≤48hs
✅ Updates por 2 años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188720"/>
            <a:ext cx="3749039" cy="5394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59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4748B"/>
                </a:solidFill>
                <a:latin typeface="Calibri"/>
              </a:rPr>
              <a:t>🔄 ANUAL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19202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ARS 28.000/año
(~USD 23/año)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59" y="2487168"/>
            <a:ext cx="32004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9" y="260604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✅ Todo lo de Pro +
✅ Updates sin límite
✅ Nuevas features beta
✅ Soporte prioritario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DE68A"/>
                </a:solidFill>
                <a:latin typeface="Calibri"/>
              </a:rPr>
              <a:t>💡  El Tier Free es deliberadamente útil y completo. El usuario paga por "más", no por "lo básico".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Proyecciones Year 1 — 1.000 Usuarios Simulados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B4FC"/>
                </a:solidFill>
                <a:latin typeface="Calibri"/>
              </a:rPr>
              <a:t>3 escenarios según nivel de activación de canales de marketing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1152144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11612880" cy="457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5715000"/>
            <a:ext cx="3749039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Conservador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081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Conv: 8,8%  ·  ARS 2,5M  ·  ~USD 2.100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5715000"/>
            <a:ext cx="3749039" cy="100584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5760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46E5"/>
                </a:solidFill>
                <a:latin typeface="Calibri"/>
              </a:rPr>
              <a:t>Moderado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61081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Conv: 15,7%  ·  ARS 4,7M  ·  ~USD 3.900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5715000"/>
            <a:ext cx="3749039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9" y="5760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Optimista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61081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Conv: 22,1%  ·  ARS 6,8M  ·  ~USD 5.650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Proyecciones Plurianuales — 3 Años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  <a:latin typeface="Calibri"/>
              </a:rPr>
              <a:t>Proyección de ingresos USD considerando crecimiento de base de usuarios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1152144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822960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86800" y="1234440"/>
            <a:ext cx="320040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1325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Year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645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1.000 usuarios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1965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Lanzamiento + finfluencers
Primeras conversiones Pro
Validar el modelo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3063240"/>
            <a:ext cx="320040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3154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Year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3474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4.000 usuarios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37947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SEO consolidado
Referidos activos
Lanzamiento Mac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4892040"/>
            <a:ext cx="320040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4983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Year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5303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12.000 usuarios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56235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Full-time income (escenario moderado)
Partnerships contadores
Nuevas features premium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Plan de Lanzamiento en 4 Fases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  <a:latin typeface="Calibri"/>
              </a:rPr>
              <a:t>De la lista de espera al crecimiento orgánico sostenible en 12 meses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11521440" cy="228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71800" y="2468880"/>
            <a:ext cx="2286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0" y="2468880"/>
            <a:ext cx="2286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32520" y="2468880"/>
            <a:ext cx="2286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25880" y="1645920"/>
            <a:ext cx="731520" cy="7315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66420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606040"/>
            <a:ext cx="2743200" cy="4069080"/>
          </a:xfrm>
          <a:prstGeom prst="rect">
            <a:avLst/>
          </a:prstGeom>
          <a:solidFill>
            <a:srgbClr val="1E293B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97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Pre-lanzamiento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54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Semanas 1–4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20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Landing page + lista de espera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3367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Videos TikTok/Reels del "dolor"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46904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Contactar 5 finfluencers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0136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200+ emails en waitlist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645920"/>
            <a:ext cx="73152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166420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606040"/>
            <a:ext cx="2743200" cy="4069080"/>
          </a:xfrm>
          <a:prstGeom prst="rect">
            <a:avLst/>
          </a:prstGeom>
          <a:solidFill>
            <a:srgbClr val="1E293B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2697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Beta Cerrada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154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3AED"/>
                </a:solidFill>
                <a:latin typeface="Calibri"/>
              </a:rPr>
              <a:t>Semanas 5–8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520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200 beta users (prioritizar B y 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23367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Feedback activo + NPS ≥ 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946904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10 testimonios reales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5660136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Video demo con usuario real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1645920"/>
            <a:ext cx="731520" cy="7315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166420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2606040"/>
            <a:ext cx="2743200" cy="4069080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2697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Lanzamiento
Público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154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  <a:latin typeface="Calibri"/>
              </a:rPr>
              <a:t>Semanas 9–12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520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Product Hunt + Reddit + redes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23367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Finfluencers simultáneos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946904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30% off primeras 72hs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660136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Meta Ads ARS 50K test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66960" y="1645920"/>
            <a:ext cx="73152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66960" y="166420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2606040"/>
            <a:ext cx="2743200" cy="4069080"/>
          </a:xfrm>
          <a:prstGeom prst="rect">
            <a:avLst/>
          </a:prstGeom>
          <a:solidFill>
            <a:srgbClr val="1E293B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80" y="2697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Crecimiento
Orgánico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3154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  <a:latin typeface="Calibri"/>
              </a:rPr>
              <a:t>Meses 4–12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520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Programa de referidos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423367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Newsletter mensual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4946904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1 banco nuevo por mes (SEO)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5660136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Lanzamiento Mac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Canales de Adquisición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DE68A"/>
                </a:solidFill>
                <a:latin typeface="Calibri"/>
              </a:rPr>
              <a:t>Finfluencers + SEO = la combinación de menor CAC y mayor escala en Argentina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11521440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21792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CAC estimado por canal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600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Calibri"/>
              </a:rPr>
              <a:t>Canal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600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Calibri"/>
              </a:rPr>
              <a:t>CAC rango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16002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Calibri"/>
              </a:rPr>
              <a:t>CAC 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Calibri"/>
              </a:rPr>
              <a:t>Time-to-result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901952"/>
            <a:ext cx="5029200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965960"/>
            <a:ext cx="50292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2057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Finfluencers CPA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574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ARS 800–2.500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05740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ARS ~1.650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20574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1–2 sem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2724912"/>
            <a:ext cx="5029200" cy="685800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28163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SEO orgánico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81635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ARS 0 (tiempo)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81635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9880" y="281635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3–9 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3483863"/>
            <a:ext cx="50292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575303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Referidos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575303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ARS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575303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575303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Continuo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4242816"/>
            <a:ext cx="5029200" cy="685800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4334256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YouTube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33425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ARS 0 (tiempo)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4334256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80" y="4334256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1–6 meses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5001768"/>
            <a:ext cx="50292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509320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Meta Ads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509320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ARS 2.000–6.000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509320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ARS ~4.000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9880" y="509320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2–4 sem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0" y="5760719"/>
            <a:ext cx="5029200" cy="685800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2280" y="5852159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Google Ads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5852159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ARS 3.000–8.000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5852159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ARS ~5.500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69880" y="5852159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2–6 sem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Riesgos y Mitigaciones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  <a:latin typeface="Calibri"/>
              </a:rPr>
              <a:t>Identificados, priorizados y con plan de contingencia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11521440" cy="228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5303520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60720" y="1188720"/>
            <a:ext cx="6126480" cy="960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126187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🔴 O1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2618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Cambio formato PDFs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6642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Suite de tests + hotfix ≤72hs + reporte in-app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286000"/>
            <a:ext cx="6126480" cy="960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23591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🟡 O4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3591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Resistencia al software pago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7614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Tier Free genuinamente útil + privacidad como diferenciador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3383280"/>
            <a:ext cx="6126480" cy="960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345643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🟡 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456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Windows Defender bloquea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8587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Code signing cert (USD 200–500/año) — inversión prioritaria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4480559"/>
            <a:ext cx="6126480" cy="960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4553711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⚪ O5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5371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Competidor grande entra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956047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Privacidad offline es imposible de replicar por bancos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5577840"/>
            <a:ext cx="6126480" cy="960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565099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🟡 O6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56509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Volatilidad macroeconómica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605332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→ Precio en pesos indexado + opción USD via Gumroad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¿Por qué EasyResumen?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32004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5681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Único con parseo nativo de PDFs de bancos argentinos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0428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Sin competencia directa local en un mercado de 28,8M usuarios de billeteras digitales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5292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Timing perfecto: inflación bajando, interés en planificación financiera subiendo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004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La reducción de 289% → 30% crea una nueva demanda de control financiero real a mediano plazo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1246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4904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El diferenciador que los bancos no pueden copiar: privacidad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09651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100% local — ningún banco ni fintech ofrecerá nunca esto porque les conviene ver tus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0857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64515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Modelo de ingresos validado y de bajo costo operativo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99262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Pago único · sin servidores · sin soporte 24/7 · sin infraestructura cloud · margen bruto ~95%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046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541264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Escalable con recursos mínimos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88873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CAC bajo (finfluencers CPA + SEO orgánico) · LTV garantizado en pago único · viral por boca a boca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309360"/>
            <a:ext cx="10515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EasyResumen · v1.2.0 · 100% local · sin IA externa · Mayo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